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3810">
            <a:solidFill>
              <a:srgbClr val="1C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C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1C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1C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1C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1C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3810">
            <a:solidFill>
              <a:srgbClr val="1C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41414">
              <a:alpha val="60000"/>
            </a:srgbClr>
          </a:solidFill>
          <a:ln w="10160">
            <a:solidFill>
              <a:srgbClr val="8A6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-274320"/>
            <a:ext cx="3200400" cy="3200400"/>
          </a:xfrm>
          <a:prstGeom prst="ellipse">
            <a:avLst/>
          </a:prstGeom>
          <a:solidFill>
            <a:srgbClr val="0A0A0A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9601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MIDAS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1800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3474720" cy="27432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Previsão Quantitativa da Bolsa de Valores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Brasileira. Inteligência Global.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8890">
            <a:solidFill>
              <a:srgbClr val="8A6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03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4C"/>
                </a:solidFill>
              </a:rPr>
              <a:t>~1.000 empresas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370332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8890">
            <a:solidFill>
              <a:srgbClr val="8A6F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703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4C"/>
                </a:solidFill>
              </a:rPr>
              <a:t>Gradient Boosting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70332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8890">
            <a:solidFill>
              <a:srgbClr val="8A6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703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4C"/>
                </a:solidFill>
              </a:rPr>
              <a:t>10.000 backtests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3703320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1A1A1A"/>
          </a:solidFill>
          <a:ln w="8890">
            <a:solidFill>
              <a:srgbClr val="8A6F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703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A84C"/>
                </a:solidFill>
              </a:rPr>
              <a:t>B3 + EUA + Europa + Ásia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87952"/>
            <a:ext cx="192024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611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5 anos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0292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histórico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06040" y="4187952"/>
            <a:ext cx="192024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42611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4 + 1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60604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treino + teste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4187952"/>
            <a:ext cx="192024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2611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20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70916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features 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4187952"/>
            <a:ext cx="192024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42611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R$ 200k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812280" y="4754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simulação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01 — Propósito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que serve o MIDAS BR?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478"/>
                </a:solidFill>
              </a:rPr>
              <a:t>Três perguntas que o sistema responde com rigor científico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2651760" cy="329184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53312"/>
            <a:ext cx="54864" cy="3291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" y="20391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</a:rPr>
              <a:t>Medir a previsibilidade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254203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Em que % dos dias o modelo acertou se o preço subiria ou cairia?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Transforma intuição em número objetivo.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53312"/>
            <a:ext cx="2651760" cy="329184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53312"/>
            <a:ext cx="54864" cy="3291840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10712" y="20391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</a:rPr>
              <a:t>Simular retornos — R$ 200.000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254203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Quanto você teria ganhado investindo nos 30%×30% mais selecionados?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Backtest real, sem dados futuros.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353312"/>
            <a:ext cx="2651760" cy="329184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353312"/>
            <a:ext cx="54864" cy="3291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45352" y="20391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</a:rPr>
              <a:t>Provar se IA consegue farmar lucro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2542032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10.000 backtests medem se o modelo supera 50% de acurácia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em escala estatisticamente significativa.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02 — Metodologia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completo: do dado bruto ao resultado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33272"/>
            <a:ext cx="365760" cy="365760"/>
          </a:xfrm>
          <a:prstGeom prst="ellipse">
            <a:avLst/>
          </a:prstGeom>
          <a:solidFill>
            <a:srgbClr val="8A6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2531" y="1399032"/>
            <a:ext cx="0" cy="384048"/>
          </a:xfrm>
          <a:prstGeom prst="line">
            <a:avLst/>
          </a:prstGeom>
          <a:noFill/>
          <a:ln w="10160">
            <a:solidFill>
              <a:srgbClr val="8A6F2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10424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Coleta  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21408" y="104241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~1.000 empresas, 5 anos de histórico via Yahoo Finance. Cache JSON: baixa uma vez, atualiza só os dias que faltam.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365760" cy="365760"/>
          </a:xfrm>
          <a:prstGeom prst="ellipse">
            <a:avLst/>
          </a:prstGeom>
          <a:solidFill>
            <a:srgbClr val="8A6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2531" y="2148840"/>
            <a:ext cx="0" cy="384048"/>
          </a:xfrm>
          <a:prstGeom prst="line">
            <a:avLst/>
          </a:prstGeom>
          <a:noFill/>
          <a:ln w="10160">
            <a:solidFill>
              <a:srgbClr val="8A6F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Features  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21408" y="179222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20 indicadores técnicos: retornos, MAs, RSI, MACD, Bollinger, volatilidade, sazonalidade.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532888"/>
            <a:ext cx="365760" cy="365760"/>
          </a:xfrm>
          <a:prstGeom prst="ellipse">
            <a:avLst/>
          </a:prstGeom>
          <a:solidFill>
            <a:srgbClr val="8A6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2531" y="2898648"/>
            <a:ext cx="0" cy="384048"/>
          </a:xfrm>
          <a:prstGeom prst="line">
            <a:avLst/>
          </a:prstGeom>
          <a:noFill/>
          <a:ln w="10160">
            <a:solidFill>
              <a:srgbClr val="8A6F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14400" y="25420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Modelo  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21408" y="254203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Gradient Boosting (200 árvores). Treina em 4 anos, testa no 1 ano mais recente — sem data leakage.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282696"/>
            <a:ext cx="365760" cy="365760"/>
          </a:xfrm>
          <a:prstGeom prst="ellipse">
            <a:avLst/>
          </a:prstGeom>
          <a:solidFill>
            <a:srgbClr val="8A6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2531" y="3648456"/>
            <a:ext cx="0" cy="384048"/>
          </a:xfrm>
          <a:prstGeom prst="line">
            <a:avLst/>
          </a:prstGeom>
          <a:noFill/>
          <a:ln w="10160">
            <a:solidFill>
              <a:srgbClr val="8A6F2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14400" y="3291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Seleção  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21408" y="329184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Duplo filtro 30%×30%: previsibilidade × lucratividade. ~90 empresas chegam à simulação.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032504"/>
            <a:ext cx="365760" cy="365760"/>
          </a:xfrm>
          <a:prstGeom prst="ellipse">
            <a:avLst/>
          </a:prstGeom>
          <a:solidFill>
            <a:srgbClr val="8A6F2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041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Prova  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21408" y="404164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10 rodadas × 1.000 empresas = 10.000 backtests. Acurácia média, p-valor, correlação real vs. previsto.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03 — Seleção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funil de seleção dupla 30% × 30%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478"/>
                </a:solidFill>
              </a:rPr>
              <a:t>Da acurácia do modelo ao capital investido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261872"/>
            <a:ext cx="7772400" cy="749808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61872"/>
            <a:ext cx="54864" cy="74980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533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~1.000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133502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</a:rPr>
              <a:t>Universo total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60934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478"/>
                </a:solidFill>
              </a:rPr>
              <a:t>EUA · Brasil · Europa · Ásia · ETFs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1965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2E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6F2E"/>
                </a:solidFill>
              </a:rPr>
              <a:t>Filtro 1 — Top 30% por acurácia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0200" y="2121408"/>
            <a:ext cx="5943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2121408"/>
            <a:ext cx="54864" cy="74980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64792" y="22128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~300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17520" y="21945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</a:rPr>
              <a:t>Top 30% mais previsíveis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4688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478"/>
                </a:solidFill>
              </a:rPr>
              <a:t>Filtro 1 — maior acurácia de direção do modelo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43400" y="28254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2E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8254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6F2E"/>
                </a:solidFill>
              </a:rPr>
              <a:t>Filtro 2 — Top 30% pelo Coeficiente MIDAS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2980944"/>
            <a:ext cx="4114800" cy="749808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2980944"/>
            <a:ext cx="54864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30723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~90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931920" y="30540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</a:rPr>
              <a:t>Top 30% mais lucrativos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3284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478"/>
                </a:solidFill>
              </a:rPr>
              <a:t>Filtro 2 — maior Coeficiente MIDAS (retorno × risco)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43400" y="3685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2E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685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0" y="3840480"/>
            <a:ext cx="310896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3840480"/>
            <a:ext cx="54864" cy="7498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</a:rPr>
              <a:t>R$ 200k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434840" y="39136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</a:rPr>
              <a:t>Simulação equal-weight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34840" y="41879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478"/>
                </a:solidFill>
              </a:rPr>
              <a:t>~R$ 2.222/empresa · vs SPY e todas as ações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04 — Coeficiente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Coeficiente MIDAS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478"/>
                </a:solidFill>
              </a:rPr>
              <a:t>Score de 0 a 100 — quanto maior, maior a confiança na empresa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Acurácia do modelo 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5029200" cy="201168"/>
          </a:xfrm>
          <a:prstGeom prst="rect">
            <a:avLst/>
          </a:prstGeom>
          <a:solidFill>
            <a:srgbClr val="1A1A1A"/>
          </a:solidFill>
          <a:ln w="3810">
            <a:solidFill>
              <a:srgbClr val="8A6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54480"/>
            <a:ext cx="176022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554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35%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Retorno real do período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5029200" cy="201168"/>
          </a:xfrm>
          <a:prstGeom prst="rect">
            <a:avLst/>
          </a:prstGeom>
          <a:solidFill>
            <a:srgbClr val="1A1A1A"/>
          </a:solidFill>
          <a:ln w="3810">
            <a:solidFill>
              <a:srgbClr val="8A6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76272"/>
            <a:ext cx="1508760" cy="20116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762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30%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523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Sharpe Ratio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5029200" cy="201168"/>
          </a:xfrm>
          <a:prstGeom prst="rect">
            <a:avLst/>
          </a:prstGeom>
          <a:solidFill>
            <a:srgbClr val="1A1A1A"/>
          </a:solidFill>
          <a:ln w="3810">
            <a:solidFill>
              <a:srgbClr val="8A6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798064"/>
            <a:ext cx="1005840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7980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20%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Consistência mensal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419856"/>
            <a:ext cx="5029200" cy="201168"/>
          </a:xfrm>
          <a:prstGeom prst="rect">
            <a:avLst/>
          </a:prstGeom>
          <a:solidFill>
            <a:srgbClr val="1A1A1A"/>
          </a:solidFill>
          <a:ln w="3810">
            <a:solidFill>
              <a:srgbClr val="8A6F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419856"/>
            <a:ext cx="502920" cy="201168"/>
          </a:xfrm>
          <a:prstGeom prst="rect">
            <a:avLst/>
          </a:prstGeom>
          <a:solidFill>
            <a:srgbClr val="888478"/>
          </a:solidFill>
          <a:ln w="12700">
            <a:solidFill>
              <a:srgbClr val="8884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4198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10%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767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Tendência recente (30d)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5029200" cy="201168"/>
          </a:xfrm>
          <a:prstGeom prst="rect">
            <a:avLst/>
          </a:prstGeom>
          <a:solidFill>
            <a:srgbClr val="1A1A1A"/>
          </a:solidFill>
          <a:ln w="3810">
            <a:solidFill>
              <a:srgbClr val="8A6F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41648"/>
            <a:ext cx="251460" cy="201168"/>
          </a:xfrm>
          <a:prstGeom prst="rect">
            <a:avLst/>
          </a:prstGeom>
          <a:solidFill>
            <a:srgbClr val="4A3A1A"/>
          </a:solidFill>
          <a:ln w="12700">
            <a:solidFill>
              <a:srgbClr val="4A3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4041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Classificação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1609344"/>
            <a:ext cx="2377440" cy="438912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609344"/>
            <a:ext cx="4572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1645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≥ 72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10528" y="18288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Forte compra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2157984"/>
            <a:ext cx="2377440" cy="438912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2157984"/>
            <a:ext cx="45720" cy="438912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194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5C"/>
                </a:solidFill>
              </a:rPr>
              <a:t>60–71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0528" y="23774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Compra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2706624"/>
            <a:ext cx="2377440" cy="438912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2706624"/>
            <a:ext cx="45720" cy="438912"/>
          </a:xfrm>
          <a:prstGeom prst="rect">
            <a:avLst/>
          </a:prstGeom>
          <a:solidFill>
            <a:srgbClr val="888478"/>
          </a:solidFill>
          <a:ln w="12700">
            <a:solidFill>
              <a:srgbClr val="8884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2743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478"/>
                </a:solidFill>
              </a:rPr>
              <a:t>45–59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10528" y="29260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Neutro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3255264"/>
            <a:ext cx="2377440" cy="438912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255264"/>
            <a:ext cx="45720" cy="438912"/>
          </a:xfrm>
          <a:prstGeom prst="rect">
            <a:avLst/>
          </a:prstGeom>
          <a:solidFill>
            <a:srgbClr val="C9A020"/>
          </a:solidFill>
          <a:ln w="12700">
            <a:solidFill>
              <a:srgbClr val="C9A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3291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020"/>
                </a:solidFill>
              </a:rPr>
              <a:t>30–44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10528" y="34747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Cautela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3803904"/>
            <a:ext cx="2377440" cy="438912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3803904"/>
            <a:ext cx="4572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38404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&lt; 30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10528" y="40233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Evitar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05 — Simulação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 você tivesse investido R$ 200.000?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478"/>
                </a:solidFill>
              </a:rPr>
              <a:t>Backtest real com as ~90 empresas selecionadas pelo duplo filtro 30%×30%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651760" cy="164592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61872"/>
            <a:ext cx="26517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44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</a:rPr>
              <a:t>Seleção dupla 30%×30%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396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~90 empresas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Previsíveis + lucrativas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61872"/>
            <a:ext cx="2651760" cy="164592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61872"/>
            <a:ext cx="2651760" cy="45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444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</a:rPr>
              <a:t>Todas as empresas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1396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</a:rPr>
              <a:t>~1.000 empresas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Diversificação total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261872"/>
            <a:ext cx="2651760" cy="164592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261872"/>
            <a:ext cx="2651760" cy="45720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444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</a:rPr>
              <a:t>SPY (S&amp;P 500)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1396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5C"/>
                </a:solidFill>
              </a:rPr>
              <a:t>Benchmark de mercado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3774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Referência global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090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</a:rPr>
              <a:t>O que o sistema calcula para cada estratégia: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44728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Valor final após 1 ano de backtest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81304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Lucro ou prejuízo em R$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417880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Rentabilidade percentual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44728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Sharpe Ratio da carteira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81304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% de empresas lucrativas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417880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6632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6"/>
                </a:solidFill>
              </a:rPr>
              <a:t>Valor pós-imposto (IR 15% — regras BR 2025)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06 — Prova Científica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10.000 backtests: o algoritmo farma dinheiro?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3931920" cy="320040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Configuração do experimento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3566160" cy="0"/>
          </a:xfrm>
          <a:prstGeom prst="line">
            <a:avLst/>
          </a:prstGeom>
          <a:noFill/>
          <a:ln w="508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Rodadas independentes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3566160" cy="0"/>
          </a:xfrm>
          <a:prstGeom prst="line">
            <a:avLst/>
          </a:prstGeom>
          <a:noFill/>
          <a:ln w="508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Empresas por rodada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901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1.000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615184"/>
            <a:ext cx="3566160" cy="0"/>
          </a:xfrm>
          <a:prstGeom prst="line">
            <a:avLst/>
          </a:prstGeom>
          <a:noFill/>
          <a:ln w="508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40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Total de backtests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3408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10.000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054096"/>
            <a:ext cx="3566160" cy="0"/>
          </a:xfrm>
          <a:prstGeom prst="line">
            <a:avLst/>
          </a:prstGeom>
          <a:noFill/>
          <a:ln w="508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79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Treino por empresa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7797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4 anos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493008"/>
            <a:ext cx="3566160" cy="0"/>
          </a:xfrm>
          <a:prstGeom prst="line">
            <a:avLst/>
          </a:prstGeom>
          <a:noFill/>
          <a:ln w="508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18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Teste por empresa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2186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1 ano real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931920"/>
            <a:ext cx="3566160" cy="0"/>
          </a:xfrm>
          <a:prstGeom prst="line">
            <a:avLst/>
          </a:prstGeom>
          <a:noFill/>
          <a:ln w="508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Filtro aplicado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30% × 30%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1024128"/>
            <a:ext cx="4114800" cy="146304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O que medimos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435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— Acurácia média global (supera 50%?)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673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— p-valor — resultado estatisticamente válido?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19110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— Correlação previsão vs. realidade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148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— Retorno da estratégia vs. SPY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2633472"/>
            <a:ext cx="4114800" cy="1591056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2633472"/>
            <a:ext cx="41148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743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Veredito automático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5C"/>
                </a:solidFill>
              </a:rPr>
              <a:t>Se acurácia &gt; 52% com p &lt; 0.05 → sinal real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291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5C"/>
                </a:solidFill>
              </a:rPr>
              <a:t>Se retorno 30%×30% &gt; SPY → gera alfa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566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</a:rPr>
              <a:t>Se ambos → algoritmo confirmado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840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78"/>
                </a:solidFill>
              </a:rPr>
              <a:t>Caso contrário → mercado é eficiente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07 — Resultados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sistema entrega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60520" cy="384048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1605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Gráficos gerados (9+)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27048"/>
            <a:ext cx="73152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813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Acurácia por empresa — rótulos de previsibilidade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29384"/>
            <a:ext cx="73152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83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Tabela crescente pior → melhor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331720"/>
            <a:ext cx="73152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86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Simulação 30%×30% vs todas vs SPY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734056"/>
            <a:ext cx="73152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883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Coeficiente MIDAS — ranking e scatter risco×retorno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136392"/>
            <a:ext cx="73152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906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Heatmap mensal de acurácia (Top 20)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538728"/>
            <a:ext cx="73152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493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Distribuição dos 10.000 backtests + curva confiança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941064"/>
            <a:ext cx="73152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95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Comparativo ações vs debêntures pós-IR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343400"/>
            <a:ext cx="73152" cy="201168"/>
          </a:xfrm>
          <a:prstGeom prst="rect">
            <a:avLst/>
          </a:prstGeom>
          <a:solidFill>
            <a:srgbClr val="8A6F2E"/>
          </a:solidFill>
          <a:ln w="12700">
            <a:solidFill>
              <a:srgbClr val="8A6F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97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6"/>
                </a:solidFill>
              </a:rPr>
              <a:t>Timing: % API vs % Machine Learning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005840"/>
            <a:ext cx="3931920" cy="384048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005840"/>
            <a:ext cx="393192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Dados exportados (.csv)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1481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</a:rPr>
              <a:t>midas_resultados_backtest.csv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16824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Acurácia e métricas de todas as empresas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19568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</a:rPr>
              <a:t>midas_coeficiente_lucratividade.csv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83480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Coeficiente MIDAS + simulação R$ 10k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432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</a:rPr>
              <a:t>midas_simulacao_200k.csv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83480" y="26334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Resultado do duplo filtro 30%×30%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9077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</a:rPr>
              <a:t>midas_prova_estatistica.csv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3480" y="3108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10.000 backtests tabulados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3383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</a:rPr>
              <a:t>midas_impostos.csv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83480" y="35844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IR, DARF por empresa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858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</a:rPr>
              <a:t>midas_debentures.csv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83480" y="40599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Debêntures com IR real calculado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43342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96A"/>
                </a:solidFill>
              </a:rPr>
              <a:t>midas_falhas.csv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83480" y="45354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78"/>
                </a:solidFill>
              </a:rPr>
              <a:t>Ativos sem dados suficientes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84C"/>
                </a:solidFill>
              </a:rPr>
              <a:t>08 — Pronto para rodar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023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o notebook — o sistema faz tudo sozinho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4114800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6"/>
                </a:solidFill>
              </a:rPr>
              <a:t>1ª execução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081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478"/>
                </a:solidFill>
              </a:rPr>
              <a:t>Ative a Célula 01 (apague os #). Execute as células em ordem. Tempo estimado: 3 a 7 horas para ~1.000 empresas.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24128"/>
            <a:ext cx="4114800" cy="1417320"/>
          </a:xfrm>
          <a:prstGeom prst="rect">
            <a:avLst/>
          </a:prstGeom>
          <a:solidFill>
            <a:srgbClr val="141414"/>
          </a:solidFill>
          <a:ln w="6350">
            <a:solidFill>
              <a:srgbClr val="8A6F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024128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Execuções seguintes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081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478"/>
                </a:solidFill>
              </a:rPr>
              <a:t>Cache JSON ativo. Baixa apenas os dias que faltam. Tempo: 15 a 45 minutos.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</a:rPr>
              <a:t>Tempo por etapa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80360"/>
          <a:ext cx="8321040" cy="155448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92024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execução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D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Instalação das libs (Célula 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D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~1.000 empresas (Célula 05)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horas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 min c/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D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(7 painéis)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D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Coeficiente + simulação 200k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D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10.000 backtests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9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solidFill>
            <a:srgbClr val="1A1A1A"/>
          </a:solidFill>
          <a:ln w="5080">
            <a:solidFill>
              <a:srgbClr val="8A6F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61772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78"/>
                </a:solidFill>
              </a:rPr>
              <a:t>⚠  Aviso legal: sistema exclusivamente educacional e de pesquisa. Não constitui recomendação de investimento. Consulte um assessor certificado (CEA/CFP) antes de investir.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274320"/>
            <a:ext cx="3291840" cy="3291840"/>
          </a:xfrm>
          <a:prstGeom prst="ellipse">
            <a:avLst/>
          </a:prstGeom>
          <a:solidFill>
            <a:srgbClr val="141414">
              <a:alpha val="70000"/>
            </a:srgbClr>
          </a:solidFill>
          <a:ln w="10160">
            <a:solidFill>
              <a:srgbClr val="8A6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46120" y="594360"/>
            <a:ext cx="2651760" cy="265176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MIDAS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0" y="2084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400" kern="0" dirty="0">
                <a:solidFill>
                  <a:srgbClr val="8A6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EDE6"/>
                </a:solidFill>
              </a:rPr>
              <a:t>Tecnologia Brasileira. Inteligência Global.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330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478"/>
                </a:solidFill>
              </a:rPr>
              <a:t>O futuro dos investimentos é analisável.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4626864"/>
            <a:ext cx="3657600" cy="0"/>
          </a:xfrm>
          <a:prstGeom prst="line">
            <a:avLst/>
          </a:prstGeom>
          <a:noFill/>
          <a:ln w="7620">
            <a:solidFill>
              <a:srgbClr val="8A6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9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478"/>
                </a:solidFill>
              </a:rPr>
              <a:t>midas_br_v6.ipynb  ·  Python  ·  Gradient Boosting  ·  ~1.000 empresas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MIDAS BR — Sistema de Previsão Quantitativa da Bolsa de Valores</dc:title>
  <dc:subject>PptxGenJS Presentation</dc:subject>
  <dc:creator>MIDAS BR</dc:creator>
  <cp:lastModifiedBy>MIDAS BR</cp:lastModifiedBy>
  <cp:revision>1</cp:revision>
  <dcterms:created xsi:type="dcterms:W3CDTF">2026-05-30T13:34:58Z</dcterms:created>
  <dcterms:modified xsi:type="dcterms:W3CDTF">2026-05-30T13:34:58Z</dcterms:modified>
</cp:coreProperties>
</file>